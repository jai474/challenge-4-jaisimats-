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1F4A3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00400"/>
            <a:ext cx="6400800" cy="6400800"/>
          </a:xfrm>
          <a:prstGeom prst="ellipse">
            <a:avLst/>
          </a:prstGeom>
          <a:solidFill>
            <a:srgbClr val="1B3A5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3200400"/>
            <a:ext cx="6400800" cy="6400800"/>
          </a:xfrm>
          <a:prstGeom prst="ellipse">
            <a:avLst/>
          </a:prstGeom>
          <a:solidFill>
            <a:srgbClr val="1B3A50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566928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VENUE INTELLIGENCE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STADIUM OPS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GenAI-enabled platform for navigation, crowd management, accessibility,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transportation, sustainability and real-time decision support at FIFA World Cup 2026 venues.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434340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F4A34"/>
          </a:solidFill>
          <a:ln w="9525">
            <a:solidFill>
              <a:srgbClr val="3DDC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43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PROMPTWARS · CHALLENGE 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434340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73042"/>
          </a:solidFill>
          <a:ln w="9525">
            <a:solidFill>
              <a:srgbClr val="5CC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343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APP + OPS DASHBOARD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99632" y="434340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3A2A12"/>
          </a:solidFill>
          <a:ln w="9525">
            <a:solidFill>
              <a:srgbClr val="FFB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4343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7-LANGUAGE AI CONCIERGE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5877763"/>
            <a:ext cx="1311021" cy="523037"/>
          </a:xfrm>
          <a:prstGeom prst="roundRect">
            <a:avLst>
              <a:gd name="adj" fmla="val 5245"/>
            </a:avLst>
          </a:prstGeom>
          <a:solidFill>
            <a:srgbClr val="3DDC84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1957" y="5696712"/>
            <a:ext cx="1311021" cy="704088"/>
          </a:xfrm>
          <a:prstGeom prst="roundRect">
            <a:avLst>
              <a:gd name="adj" fmla="val 3896"/>
            </a:avLst>
          </a:prstGeom>
          <a:solidFill>
            <a:srgbClr val="3DDC84"/>
          </a:solidFill>
          <a:ln/>
        </p:spPr>
      </p:sp>
      <p:sp>
        <p:nvSpPr>
          <p:cNvPr id="17" name="Shape 15"/>
          <p:cNvSpPr/>
          <p:nvPr/>
        </p:nvSpPr>
        <p:spPr>
          <a:xfrm>
            <a:off x="3335274" y="5716829"/>
            <a:ext cx="1311021" cy="683971"/>
          </a:xfrm>
          <a:prstGeom prst="roundRect">
            <a:avLst>
              <a:gd name="adj" fmla="val 4011"/>
            </a:avLst>
          </a:prstGeom>
          <a:solidFill>
            <a:srgbClr val="3DDC8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28591" y="5787238"/>
            <a:ext cx="1311021" cy="613562"/>
          </a:xfrm>
          <a:prstGeom prst="roundRect">
            <a:avLst>
              <a:gd name="adj" fmla="val 4471"/>
            </a:avLst>
          </a:prstGeom>
          <a:solidFill>
            <a:srgbClr val="3DDC84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1908" y="5797296"/>
            <a:ext cx="1311021" cy="603504"/>
          </a:xfrm>
          <a:prstGeom prst="roundRect">
            <a:avLst>
              <a:gd name="adj" fmla="val 4545"/>
            </a:avLst>
          </a:prstGeom>
          <a:solidFill>
            <a:srgbClr val="3DDC84"/>
          </a:solidFill>
          <a:ln/>
        </p:spPr>
      </p:sp>
      <p:sp>
        <p:nvSpPr>
          <p:cNvPr id="20" name="Shape 18"/>
          <p:cNvSpPr/>
          <p:nvPr/>
        </p:nvSpPr>
        <p:spPr>
          <a:xfrm>
            <a:off x="7515225" y="5616245"/>
            <a:ext cx="1311021" cy="784555"/>
          </a:xfrm>
          <a:prstGeom prst="roundRect">
            <a:avLst>
              <a:gd name="adj" fmla="val 3497"/>
            </a:avLst>
          </a:prstGeom>
          <a:solidFill>
            <a:srgbClr val="FFB238"/>
          </a:solidFill>
          <a:ln/>
        </p:spPr>
      </p:sp>
      <p:sp>
        <p:nvSpPr>
          <p:cNvPr id="21" name="Shape 19"/>
          <p:cNvSpPr/>
          <p:nvPr/>
        </p:nvSpPr>
        <p:spPr>
          <a:xfrm>
            <a:off x="8908542" y="5958230"/>
            <a:ext cx="1311021" cy="442570"/>
          </a:xfrm>
          <a:prstGeom prst="roundRect">
            <a:avLst>
              <a:gd name="adj" fmla="val 6198"/>
            </a:avLst>
          </a:prstGeom>
          <a:solidFill>
            <a:srgbClr val="3DDC8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01859" y="5666537"/>
            <a:ext cx="1311021" cy="734263"/>
          </a:xfrm>
          <a:prstGeom prst="roundRect">
            <a:avLst>
              <a:gd name="adj" fmla="val 3736"/>
            </a:avLst>
          </a:prstGeom>
          <a:solidFill>
            <a:srgbClr val="3DDC8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     GATE B     GATE C     GATE D     GATE E     GATE F     GATE G     GATE 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Stadiums &amp; Tournament Operations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GenAI-enabled solution that enhances stadium operations and the tournament experience for fans, organizers, volunteers, and venue staff during the FIFA World Cup 2026.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291840" cy="2880360"/>
          </a:xfrm>
          <a:prstGeom prst="roundRect">
            <a:avLst>
              <a:gd name="adj" fmla="val 2857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capability areas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must cover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746504"/>
            <a:ext cx="146304" cy="14630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6092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2235708"/>
            <a:ext cx="146304" cy="146304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21808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management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2724912"/>
            <a:ext cx="146304" cy="146304"/>
          </a:xfrm>
          <a:prstGeom prst="ellipse">
            <a:avLst/>
          </a:prstGeom>
          <a:solidFill>
            <a:srgbClr val="5CC7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26700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0" y="3214116"/>
            <a:ext cx="146304" cy="14630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31592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3703320"/>
            <a:ext cx="146304" cy="146304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36484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40880" y="4192524"/>
            <a:ext cx="146304" cy="146304"/>
          </a:xfrm>
          <a:prstGeom prst="ellipse">
            <a:avLst/>
          </a:prstGeom>
          <a:solidFill>
            <a:srgbClr val="5CC7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41376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assistance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4681728"/>
            <a:ext cx="146304" cy="14630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46268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intelligence &amp; real-time decision support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 — PROMPTWARS CHALLENGE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live venue, two purpose-built apps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real-time data layer — gates, transport, sustainability, incidents — powers a fan-facing companion and a staff-facing command center.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50592"/>
            <a:ext cx="566928" cy="566928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4505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Companion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3310128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concierge — 7 languages, grounded replies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877056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813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wayfinding with a step-free / accessible mode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443984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3799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shuttle, parking and metro status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5010912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9469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accessibility assistance requests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5577840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55138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sustainability impact stats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14884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450592"/>
            <a:ext cx="566928" cy="566928"/>
          </a:xfrm>
          <a:prstGeom prst="ellipse">
            <a:avLst/>
          </a:prstGeom>
          <a:solidFill>
            <a:srgbClr val="3A2A12"/>
          </a:solidFill>
          <a:ln w="15875">
            <a:solidFill>
              <a:srgbClr val="FFB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24505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Command Center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83680" y="3310128"/>
            <a:ext cx="91440" cy="91440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24" name="Text 22"/>
          <p:cNvSpPr/>
          <p:nvPr/>
        </p:nvSpPr>
        <p:spPr>
          <a:xfrm>
            <a:off x="6830568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gate-by-gate crowd pulse across the venue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3877056"/>
            <a:ext cx="91440" cy="91440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568" y="3813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decision-support feed with concrete redirect actions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4443984"/>
            <a:ext cx="91440" cy="91440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28" name="Text 26"/>
          <p:cNvSpPr/>
          <p:nvPr/>
        </p:nvSpPr>
        <p:spPr>
          <a:xfrm>
            <a:off x="6830568" y="43799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log — create, triage, resolve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5010912"/>
            <a:ext cx="91440" cy="91440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30" name="Text 28"/>
          <p:cNvSpPr/>
          <p:nvPr/>
        </p:nvSpPr>
        <p:spPr>
          <a:xfrm>
            <a:off x="6830568" y="49469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Accessibility-request queue for staff follow-up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5577840"/>
            <a:ext cx="91440" cy="91440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32" name="Text 30"/>
          <p:cNvSpPr/>
          <p:nvPr/>
        </p:nvSpPr>
        <p:spPr>
          <a:xfrm>
            <a:off x="6830568" y="55138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trend &amp; sustainability charts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 — PROMPTWARS CHALLENGE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requirement, mapped to a shipping feature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18520" cy="489204"/>
          </a:xfrm>
          <a:prstGeom prst="roundRect">
            <a:avLst>
              <a:gd name="adj" fmla="val 11215"/>
            </a:avLst>
          </a:prstGeom>
          <a:solidFill>
            <a:srgbClr val="1F4A3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880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8092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SMART STADIUM OPS DELIVERS IT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43684"/>
            <a:ext cx="11018520" cy="489204"/>
          </a:xfrm>
          <a:prstGeom prst="rect">
            <a:avLst/>
          </a:prstGeom>
          <a:solidFill>
            <a:srgbClr val="16271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43684"/>
            <a:ext cx="2880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043684"/>
            <a:ext cx="8092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wayfinding across a 25-node venue graph, with accessible-route filtering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532888"/>
            <a:ext cx="2880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532888"/>
            <a:ext cx="8092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11-zone occupancy feed + the Gate Pulse Strip + auto redirect alerts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22092"/>
            <a:ext cx="11018520" cy="489204"/>
          </a:xfrm>
          <a:prstGeom prst="rect">
            <a:avLst/>
          </a:prstGeom>
          <a:solidFill>
            <a:srgbClr val="16271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22092"/>
            <a:ext cx="2880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022092"/>
            <a:ext cx="8092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request workflow, staff fulfillment queue, step-free routing mode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511296"/>
            <a:ext cx="2880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511296"/>
            <a:ext cx="8092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 ETAs, parking occupancy, metro headway &amp; crowding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00500"/>
            <a:ext cx="11018520" cy="489204"/>
          </a:xfrm>
          <a:prstGeom prst="rect">
            <a:avLst/>
          </a:prstGeom>
          <a:solidFill>
            <a:srgbClr val="16271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00500"/>
            <a:ext cx="2880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4000500"/>
            <a:ext cx="8092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energy, water, waste and carbon-savings dashboard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4489704"/>
            <a:ext cx="2880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assistance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4489704"/>
            <a:ext cx="8092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in English, Spanish, French, Arabic, Portuguese, Hindi, Chinese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978908"/>
            <a:ext cx="11018520" cy="489204"/>
          </a:xfrm>
          <a:prstGeom prst="rect">
            <a:avLst/>
          </a:prstGeom>
          <a:solidFill>
            <a:srgbClr val="16271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978908"/>
            <a:ext cx="2880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4978908"/>
            <a:ext cx="8092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Command Center: KPIs, incident log, occupancy trend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5468112"/>
            <a:ext cx="2880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 support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5468112"/>
            <a:ext cx="8092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AI-generated, actionable alerts — e.g. “redirect to Gate G”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 — PROMPTWARS CHALLENGE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COMPANION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fan needs, one gate at a time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932688"/>
          </a:xfrm>
          <a:prstGeom prst="roundRect">
            <a:avLst>
              <a:gd name="adj" fmla="val 8824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74520"/>
            <a:ext cx="566928" cy="566928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18013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Concierge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81328" y="21122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gate, route, transport, accessibility and sustainability questions in 7 languages — always grounded in live venue data, never a guess.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71032" y="1691640"/>
            <a:ext cx="5257800" cy="932688"/>
          </a:xfrm>
          <a:prstGeom prst="roundRect">
            <a:avLst>
              <a:gd name="adj" fmla="val 8824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874520"/>
            <a:ext cx="566928" cy="566928"/>
          </a:xfrm>
          <a:prstGeom prst="ellipse">
            <a:avLst/>
          </a:prstGeom>
          <a:solidFill>
            <a:srgbClr val="173042"/>
          </a:solidFill>
          <a:ln w="15875">
            <a:solidFill>
              <a:srgbClr val="5CC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18013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Wayfinding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21122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Shortest-path routing across the full venue graph, with a one-tap step-free / accessible-only mode.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5257800" cy="932688"/>
          </a:xfrm>
          <a:prstGeom prst="roundRect">
            <a:avLst>
              <a:gd name="adj" fmla="val 8824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971800"/>
            <a:ext cx="566928" cy="566928"/>
          </a:xfrm>
          <a:prstGeom prst="ellipse">
            <a:avLst/>
          </a:prstGeom>
          <a:solidFill>
            <a:srgbClr val="3A2A12"/>
          </a:solidFill>
          <a:ln w="15875">
            <a:solidFill>
              <a:srgbClr val="FFB2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1328" y="28986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&amp; Parking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81328" y="320954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shuttle ETAs, parking occupancy by lot, and metro headway/crowding.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71032" y="2788920"/>
            <a:ext cx="5257800" cy="932688"/>
          </a:xfrm>
          <a:prstGeom prst="roundRect">
            <a:avLst>
              <a:gd name="adj" fmla="val 8824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971800"/>
            <a:ext cx="566928" cy="566928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28986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Requests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320954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Wheelchair, visual, hearing, sensory-room and mobility-cart requests routed straight to staff.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10680192" cy="932688"/>
          </a:xfrm>
          <a:prstGeom prst="roundRect">
            <a:avLst>
              <a:gd name="adj" fmla="val 8824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rgbClr val="173042"/>
          </a:solidFill>
          <a:ln w="15875">
            <a:solidFill>
              <a:srgbClr val="5CC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3995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430682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Renewable-energy share, waste diversion and CO₂ saved — updated in real time.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 — PROMPTWARS CHALLENGE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COMMAND CENTER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Command-center visibility for tournament staff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480560"/>
          </a:xfrm>
          <a:prstGeom prst="roundRect">
            <a:avLst>
              <a:gd name="adj" fmla="val 1837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PULSE — LIVE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940710"/>
            <a:ext cx="556641" cy="808330"/>
          </a:xfrm>
          <a:prstGeom prst="roundRect">
            <a:avLst>
              <a:gd name="adj" fmla="val 4928"/>
            </a:avLst>
          </a:prstGeom>
          <a:solidFill>
            <a:srgbClr val="3DDC84"/>
          </a:solidFill>
          <a:ln/>
        </p:spPr>
      </p:sp>
      <p:sp>
        <p:nvSpPr>
          <p:cNvPr id="7" name="Shape 5"/>
          <p:cNvSpPr/>
          <p:nvPr/>
        </p:nvSpPr>
        <p:spPr>
          <a:xfrm>
            <a:off x="1461897" y="2660904"/>
            <a:ext cx="556641" cy="1088136"/>
          </a:xfrm>
          <a:prstGeom prst="roundRect">
            <a:avLst>
              <a:gd name="adj" fmla="val 4928"/>
            </a:avLst>
          </a:prstGeom>
          <a:solidFill>
            <a:srgbClr val="3DDC84"/>
          </a:solidFill>
          <a:ln/>
        </p:spPr>
      </p:sp>
      <p:sp>
        <p:nvSpPr>
          <p:cNvPr id="8" name="Shape 6"/>
          <p:cNvSpPr/>
          <p:nvPr/>
        </p:nvSpPr>
        <p:spPr>
          <a:xfrm>
            <a:off x="2100834" y="2318918"/>
            <a:ext cx="556641" cy="1430122"/>
          </a:xfrm>
          <a:prstGeom prst="roundRect">
            <a:avLst>
              <a:gd name="adj" fmla="val 4928"/>
            </a:avLst>
          </a:prstGeom>
          <a:solidFill>
            <a:srgbClr val="FF5D5D"/>
          </a:solidFill>
          <a:ln/>
        </p:spPr>
      </p:sp>
      <p:sp>
        <p:nvSpPr>
          <p:cNvPr id="9" name="Shape 7"/>
          <p:cNvSpPr/>
          <p:nvPr/>
        </p:nvSpPr>
        <p:spPr>
          <a:xfrm>
            <a:off x="2739771" y="2800807"/>
            <a:ext cx="556641" cy="948233"/>
          </a:xfrm>
          <a:prstGeom prst="roundRect">
            <a:avLst>
              <a:gd name="adj" fmla="val 4928"/>
            </a:avLst>
          </a:prstGeom>
          <a:solidFill>
            <a:srgbClr val="3DDC84"/>
          </a:solidFill>
          <a:ln/>
        </p:spPr>
      </p:sp>
      <p:sp>
        <p:nvSpPr>
          <p:cNvPr id="10" name="Shape 8"/>
          <p:cNvSpPr/>
          <p:nvPr/>
        </p:nvSpPr>
        <p:spPr>
          <a:xfrm>
            <a:off x="3378708" y="2816352"/>
            <a:ext cx="556641" cy="932688"/>
          </a:xfrm>
          <a:prstGeom prst="roundRect">
            <a:avLst>
              <a:gd name="adj" fmla="val 4928"/>
            </a:avLst>
          </a:prstGeom>
          <a:solidFill>
            <a:srgbClr val="3DDC84"/>
          </a:solidFill>
          <a:ln/>
        </p:spPr>
      </p:sp>
      <p:sp>
        <p:nvSpPr>
          <p:cNvPr id="11" name="Shape 9"/>
          <p:cNvSpPr/>
          <p:nvPr/>
        </p:nvSpPr>
        <p:spPr>
          <a:xfrm>
            <a:off x="4017645" y="2536546"/>
            <a:ext cx="556641" cy="1212494"/>
          </a:xfrm>
          <a:prstGeom prst="roundRect">
            <a:avLst>
              <a:gd name="adj" fmla="val 4928"/>
            </a:avLst>
          </a:prstGeom>
          <a:solidFill>
            <a:srgbClr val="FFB23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56582" y="3065069"/>
            <a:ext cx="556641" cy="683971"/>
          </a:xfrm>
          <a:prstGeom prst="roundRect">
            <a:avLst>
              <a:gd name="adj" fmla="val 4928"/>
            </a:avLst>
          </a:prstGeom>
          <a:solidFill>
            <a:srgbClr val="3DDC84"/>
          </a:solidFill>
          <a:ln/>
        </p:spPr>
      </p:sp>
      <p:sp>
        <p:nvSpPr>
          <p:cNvPr id="13" name="Shape 11"/>
          <p:cNvSpPr/>
          <p:nvPr/>
        </p:nvSpPr>
        <p:spPr>
          <a:xfrm>
            <a:off x="5295519" y="2614270"/>
            <a:ext cx="556641" cy="1134770"/>
          </a:xfrm>
          <a:prstGeom prst="roundRect">
            <a:avLst>
              <a:gd name="adj" fmla="val 4928"/>
            </a:avLst>
          </a:prstGeom>
          <a:solidFill>
            <a:srgbClr val="3DDC8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67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     B        C        D        E        F        G        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18,420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" y="4773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in venue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604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06040" y="4773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AI alerts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89120" y="4773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5349240"/>
            <a:ext cx="5029200" cy="0"/>
          </a:xfrm>
          <a:prstGeom prst="line">
            <a:avLst/>
          </a:prstGeom>
          <a:noFill/>
          <a:ln w="12700">
            <a:solidFill>
              <a:srgbClr val="2B44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INCIDENT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57790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— fan feeling unwell near East concourse — resolved in 12 min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16459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1A2620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DECISION-SUPPORT FEED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2402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A1616"/>
          </a:solidFill>
          <a:ln w="9525">
            <a:solidFill>
              <a:srgbClr val="FF5D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2402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29400" y="2606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 at 92% capacity — CLOSE inbound queueing, activate overflow marshals, and redirect arriving fans to Gate G (44%) via digital signage and PA.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37490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A2A12"/>
          </a:solidFill>
          <a:ln w="9525">
            <a:solidFill>
              <a:srgbClr val="FFB2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749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29400" y="41148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 approaching capacity (78%). Recommend soft-redirect messaging toward Gate G and pre-position 2 additional stewards.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53492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names the exact action and the alternate gate — not just a warning.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 — PROMPTWARS CHALLENGE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GENAI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by design — it never invents a number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→ Intent → Live venue data → Localized, grounded reply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548640" cy="548640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intent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the question: gate crowding, routing, transport, accessibility, or sustainability.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331720"/>
            <a:ext cx="548640" cy="548640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live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same real-time state the dashboards render — zero separate source of truth.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1031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331720"/>
            <a:ext cx="548640" cy="548640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68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localize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a grounded answer in the fan's chosen language — 7 supported out of the box.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1A2620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INTERCHANGEABLE ENGINES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8920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F4A34"/>
          </a:solidFill>
          <a:ln w="9525">
            <a:solidFill>
              <a:srgbClr val="3DDC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92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OFFLINE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52852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GenAI-simulation engine — works instantly, no API key, no internet required.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48920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73042"/>
          </a:solidFill>
          <a:ln w="9525">
            <a:solidFill>
              <a:srgbClr val="5CC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892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LIVE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52852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 Anthropic API key and the same endpoints switch to a live Claude model, still grounded in real venue data — no frontend changes.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 — PROMPTWARS CHALLENGE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run the same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 · WebSocket · persistent-ready store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754880" cy="713232"/>
          </a:xfrm>
          <a:prstGeom prst="roundRect">
            <a:avLst>
              <a:gd name="adj" fmla="val 8974"/>
            </a:avLst>
          </a:prstGeom>
          <a:solidFill>
            <a:srgbClr val="1E332A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791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· ops.html · vanilla JS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3319272"/>
            <a:ext cx="0" cy="182880"/>
          </a:xfrm>
          <a:prstGeom prst="line">
            <a:avLst/>
          </a:prstGeom>
          <a:noFill/>
          <a:ln w="19050">
            <a:solidFill>
              <a:srgbClr val="3DDC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502152"/>
            <a:ext cx="4754880" cy="713232"/>
          </a:xfrm>
          <a:prstGeom prst="roundRect">
            <a:avLst>
              <a:gd name="adj" fmla="val 8974"/>
            </a:avLst>
          </a:prstGeom>
          <a:solidFill>
            <a:srgbClr val="1E332A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5753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WebSocket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8679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· navigation · chat · incidents · alerts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4215384"/>
            <a:ext cx="0" cy="182880"/>
          </a:xfrm>
          <a:prstGeom prst="line">
            <a:avLst/>
          </a:prstGeom>
          <a:noFill/>
          <a:ln w="19050">
            <a:solidFill>
              <a:srgbClr val="3DDC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98264"/>
            <a:ext cx="4754880" cy="713232"/>
          </a:xfrm>
          <a:prstGeom prst="roundRect">
            <a:avLst>
              <a:gd name="adj" fmla="val 8974"/>
            </a:avLst>
          </a:prstGeom>
          <a:solidFill>
            <a:srgbClr val="1E332A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4714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7640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simulator · Dijkstra routing · GenAI engine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5111496"/>
            <a:ext cx="0" cy="182880"/>
          </a:xfrm>
          <a:prstGeom prst="line">
            <a:avLst/>
          </a:prstGeom>
          <a:noFill/>
          <a:ln w="19050">
            <a:solidFill>
              <a:srgbClr val="3DDC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294376"/>
            <a:ext cx="4754880" cy="713232"/>
          </a:xfrm>
          <a:prstGeom prst="roundRect">
            <a:avLst>
              <a:gd name="adj" fmla="val 8974"/>
            </a:avLst>
          </a:prstGeom>
          <a:solidFill>
            <a:srgbClr val="1E332A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3675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56601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graph · in-memory store (swap for a DB)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A2620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BUILD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2084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file · zero install · fully offline-capable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2606040"/>
            <a:ext cx="868680" cy="868680"/>
          </a:xfrm>
          <a:prstGeom prst="ellipse">
            <a:avLst/>
          </a:prstGeom>
          <a:solidFill>
            <a:srgbClr val="3A2A12"/>
          </a:solidFill>
          <a:ln w="15875">
            <a:solidFill>
              <a:srgbClr val="FFB2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589520" y="2651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above — data, routing, simulation, AI engine, UI — compiled into one inline &lt;script&gt; and &lt;style&gt; block.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041648"/>
            <a:ext cx="91440" cy="91440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3977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to open — no npm, no server, no ports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4608576"/>
            <a:ext cx="91440" cy="91440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45445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design system &amp; feature set as the full-stack build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5175504"/>
            <a:ext cx="91440" cy="91440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511149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no persistence and no live-model calls (needs a backend to hold an API key)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 — PROMPTWARS CHALLENGE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against the scoring criteria, not around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Express routes + services; a single shared data layer; no dead code paths.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892808"/>
            <a:ext cx="457200" cy="457200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048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input validation on every write route; secrets stay in .env, never in source.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892808"/>
            <a:ext cx="457200" cy="457200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4048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graph + O(V²) Dijkstra on a 25-node graph — sub-millisecond routing at this scale.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493008"/>
            <a:ext cx="457200" cy="457200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0050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smoke-tested; the standalone build verified end-to-end with a headless DOM run.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97680" y="32918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3493008"/>
            <a:ext cx="457200" cy="457200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40050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first-class accessible-routing mode and a full request-to-fulfillment workflow, not an afterthought.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046720" y="32918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3493008"/>
            <a:ext cx="457200" cy="457200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2396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Alignment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40050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brief capability areas shipped as working features — see the coverage map.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 — PROMPTWARS CHALLENGE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run it, right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— fastest path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384048" cy="384048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3312" y="257860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single .html 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172968"/>
            <a:ext cx="384048" cy="384048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53312" y="3145536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to open in any browser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739896"/>
            <a:ext cx="384048" cy="384048"/>
          </a:xfrm>
          <a:prstGeom prst="ellipse">
            <a:avLst/>
          </a:prstGeom>
          <a:solidFill>
            <a:srgbClr val="1F4A34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53312" y="371246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install, no server, works offline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52628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0A1410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smart-stadium-ops.html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5029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instantly — the AI concierge, routing, and live simulation all run in your browser.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1A2620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— production path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37960" y="2606040"/>
            <a:ext cx="384048" cy="384048"/>
          </a:xfrm>
          <a:prstGeom prst="ellipse">
            <a:avLst/>
          </a:prstGeom>
          <a:solidFill>
            <a:srgbClr val="3A2A12"/>
          </a:solidFill>
          <a:ln w="15875">
            <a:solidFill>
              <a:srgbClr val="FFB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68312" y="257860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3172968"/>
            <a:ext cx="384048" cy="384048"/>
          </a:xfrm>
          <a:prstGeom prst="ellipse">
            <a:avLst/>
          </a:prstGeom>
          <a:solidFill>
            <a:srgbClr val="3A2A12"/>
          </a:solidFill>
          <a:ln w="15875">
            <a:solidFill>
              <a:srgbClr val="FFB2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68312" y="3145536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start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3739896"/>
            <a:ext cx="384048" cy="384048"/>
          </a:xfrm>
          <a:prstGeom prst="ellipse">
            <a:avLst/>
          </a:prstGeom>
          <a:solidFill>
            <a:srgbClr val="3A2A12"/>
          </a:solidFill>
          <a:ln w="15875">
            <a:solidFill>
              <a:srgbClr val="FFB2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8312" y="371246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localhost:4000 (fan app) and /ops.html (dashboard)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452628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0A1410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ANTHROPIC_API_KEY=... (optional)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5029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key in .env to upgrade the concierge to a live Claude model — no code changes needed.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 — PROMPTWARS CHALLENGE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tournament demo to production venue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A2620"/>
          </a:solidFill>
          <a:ln w="15875">
            <a:solidFill>
              <a:srgbClr val="5CC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telemetry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crowd simulator for turnstile counts and CCTV crowd-density feeds.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928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A2620"/>
          </a:solidFill>
          <a:ln w="15875">
            <a:solidFill>
              <a:srgbClr val="5CC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47488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048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incidents, requests and alert history from memory to a real database.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8928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A2620"/>
          </a:solidFill>
          <a:ln w="15875">
            <a:solidFill>
              <a:srgbClr val="5CC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96528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auth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4048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in front of incident and accessibility write endpoints.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93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A2620"/>
          </a:solidFill>
          <a:ln w="15875">
            <a:solidFill>
              <a:srgbClr val="5CC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0050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/ SMS for accessibility-request confirmations and critical alerts.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97680" y="32918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493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A2620"/>
          </a:solidFill>
          <a:ln w="15875">
            <a:solidFill>
              <a:srgbClr val="5CC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47488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venue GIS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40050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demo node graph with the venue's actual BIM/GIS export.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046720" y="32918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6271F"/>
          </a:solidFill>
          <a:ln w="12700">
            <a:solidFill>
              <a:srgbClr val="2B44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3493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A2620"/>
          </a:solidFill>
          <a:ln w="15875">
            <a:solidFill>
              <a:srgbClr val="5CC7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96528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alerts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40050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gate congestion ahead of kickoff, not just react to it.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 — PROMPTWARS CHALLENGE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1F4A34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66928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STADIUM 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3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PromptWars Challenge 4 — Smart Stadiums &amp; Tournament Operations.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demo in either the standalone build or the full-stack platform.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797296"/>
            <a:ext cx="1311021" cy="603504"/>
          </a:xfrm>
          <a:prstGeom prst="roundRect">
            <a:avLst>
              <a:gd name="adj" fmla="val 4545"/>
            </a:avLst>
          </a:prstGeom>
          <a:solidFill>
            <a:srgbClr val="3DDC84"/>
          </a:solidFill>
          <a:ln/>
        </p:spPr>
      </p:sp>
      <p:sp>
        <p:nvSpPr>
          <p:cNvPr id="8" name="Shape 6"/>
          <p:cNvSpPr/>
          <p:nvPr/>
        </p:nvSpPr>
        <p:spPr>
          <a:xfrm>
            <a:off x="1941957" y="5847588"/>
            <a:ext cx="1311021" cy="553212"/>
          </a:xfrm>
          <a:prstGeom prst="roundRect">
            <a:avLst>
              <a:gd name="adj" fmla="val 4959"/>
            </a:avLst>
          </a:prstGeom>
          <a:solidFill>
            <a:srgbClr val="3DDC84"/>
          </a:solidFill>
          <a:ln/>
        </p:spPr>
      </p:sp>
      <p:sp>
        <p:nvSpPr>
          <p:cNvPr id="9" name="Shape 7"/>
          <p:cNvSpPr/>
          <p:nvPr/>
        </p:nvSpPr>
        <p:spPr>
          <a:xfrm>
            <a:off x="3335274" y="5576011"/>
            <a:ext cx="1311021" cy="824789"/>
          </a:xfrm>
          <a:prstGeom prst="roundRect">
            <a:avLst>
              <a:gd name="adj" fmla="val 3326"/>
            </a:avLst>
          </a:prstGeom>
          <a:solidFill>
            <a:srgbClr val="FFB238"/>
          </a:solidFill>
          <a:ln/>
        </p:spPr>
      </p:sp>
      <p:sp>
        <p:nvSpPr>
          <p:cNvPr id="10" name="Shape 8"/>
          <p:cNvSpPr/>
          <p:nvPr/>
        </p:nvSpPr>
        <p:spPr>
          <a:xfrm>
            <a:off x="4728591" y="5696712"/>
            <a:ext cx="1311021" cy="704088"/>
          </a:xfrm>
          <a:prstGeom prst="roundRect">
            <a:avLst>
              <a:gd name="adj" fmla="val 3896"/>
            </a:avLst>
          </a:prstGeom>
          <a:solidFill>
            <a:srgbClr val="3DDC84"/>
          </a:solidFill>
          <a:ln/>
        </p:spPr>
      </p:sp>
      <p:sp>
        <p:nvSpPr>
          <p:cNvPr id="11" name="Shape 9"/>
          <p:cNvSpPr/>
          <p:nvPr/>
        </p:nvSpPr>
        <p:spPr>
          <a:xfrm>
            <a:off x="6121908" y="5747004"/>
            <a:ext cx="1311021" cy="653796"/>
          </a:xfrm>
          <a:prstGeom prst="roundRect">
            <a:avLst>
              <a:gd name="adj" fmla="val 4196"/>
            </a:avLst>
          </a:prstGeom>
          <a:solidFill>
            <a:srgbClr val="3DDC8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15225" y="5495544"/>
            <a:ext cx="1311021" cy="905256"/>
          </a:xfrm>
          <a:prstGeom prst="roundRect">
            <a:avLst>
              <a:gd name="adj" fmla="val 3030"/>
            </a:avLst>
          </a:prstGeom>
          <a:solidFill>
            <a:srgbClr val="FF5D5D"/>
          </a:solidFill>
          <a:ln/>
        </p:spPr>
      </p:sp>
      <p:sp>
        <p:nvSpPr>
          <p:cNvPr id="13" name="Shape 11"/>
          <p:cNvSpPr/>
          <p:nvPr/>
        </p:nvSpPr>
        <p:spPr>
          <a:xfrm>
            <a:off x="8908542" y="5917997"/>
            <a:ext cx="1311021" cy="482803"/>
          </a:xfrm>
          <a:prstGeom prst="roundRect">
            <a:avLst>
              <a:gd name="adj" fmla="val 5682"/>
            </a:avLst>
          </a:prstGeom>
          <a:solidFill>
            <a:srgbClr val="3DDC8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1859" y="5636362"/>
            <a:ext cx="1311021" cy="764438"/>
          </a:xfrm>
          <a:prstGeom prst="roundRect">
            <a:avLst>
              <a:gd name="adj" fmla="val 3589"/>
            </a:avLst>
          </a:prstGeom>
          <a:solidFill>
            <a:srgbClr val="FFB23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2026-07-16T15:58:30Z</dcterms:created>
  <dcterms:modified xsi:type="dcterms:W3CDTF">2026-07-16T15:58:30Z</dcterms:modified>
</cp:coreProperties>
</file>